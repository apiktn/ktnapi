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2" r:id="rId2"/>
    <p:sldId id="334" r:id="rId3"/>
    <p:sldId id="373" r:id="rId4"/>
    <p:sldId id="294" r:id="rId5"/>
    <p:sldId id="293" r:id="rId6"/>
    <p:sldId id="256" r:id="rId7"/>
    <p:sldId id="357" r:id="rId8"/>
    <p:sldId id="358" r:id="rId9"/>
    <p:sldId id="360" r:id="rId10"/>
    <p:sldId id="369" r:id="rId11"/>
    <p:sldId id="361" r:id="rId12"/>
    <p:sldId id="366" r:id="rId13"/>
    <p:sldId id="367" r:id="rId14"/>
    <p:sldId id="368" r:id="rId15"/>
    <p:sldId id="370" r:id="rId16"/>
    <p:sldId id="371" r:id="rId17"/>
    <p:sldId id="359" r:id="rId18"/>
    <p:sldId id="336" r:id="rId19"/>
    <p:sldId id="362" r:id="rId20"/>
    <p:sldId id="375" r:id="rId21"/>
    <p:sldId id="376" r:id="rId22"/>
    <p:sldId id="363" r:id="rId23"/>
    <p:sldId id="364" r:id="rId24"/>
    <p:sldId id="365" r:id="rId25"/>
    <p:sldId id="374" r:id="rId2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9CC8C-173C-4B24-8597-454820C9D03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แบบฟอร์มอนุมัติค่าใช้จ่าย</a:t>
            </a:r>
            <a:endParaRPr lang="en-US" sz="6600" b="1" dirty="0">
              <a:latin typeface="AngsanaUPC" panose="02020603050405020304" pitchFamily="18" charset="-34"/>
              <a:cs typeface="+mj-cs"/>
            </a:endParaRP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(Expenses Approval Form)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1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31336-AE62-4C71-B95C-76F1B5D17C49}"/>
              </a:ext>
            </a:extLst>
          </p:cNvPr>
          <p:cNvSpPr txBox="1"/>
          <p:nvPr/>
        </p:nvSpPr>
        <p:spPr>
          <a:xfrm>
            <a:off x="5503333" y="510209"/>
            <a:ext cx="1023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สารบัญ</a:t>
            </a:r>
            <a:endParaRPr lang="en-US" sz="3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F538B2-3364-4EC6-98D3-B6BE5191B9BA}"/>
              </a:ext>
            </a:extLst>
          </p:cNvPr>
          <p:cNvGrpSpPr/>
          <p:nvPr/>
        </p:nvGrpSpPr>
        <p:grpSpPr>
          <a:xfrm>
            <a:off x="904422" y="1901477"/>
            <a:ext cx="10167558" cy="375327"/>
            <a:chOff x="904422" y="1914851"/>
            <a:chExt cx="10167558" cy="37532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7DC83AA-99F5-4261-8C3A-4F858069DA56}"/>
                </a:ext>
              </a:extLst>
            </p:cNvPr>
            <p:cNvGrpSpPr/>
            <p:nvPr/>
          </p:nvGrpSpPr>
          <p:grpSpPr>
            <a:xfrm>
              <a:off x="904422" y="1914851"/>
              <a:ext cx="10167558" cy="375327"/>
              <a:chOff x="233944" y="1367206"/>
              <a:chExt cx="10167558" cy="37532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0149091-FD23-4818-B608-AC78BFD652E6}"/>
                  </a:ext>
                </a:extLst>
              </p:cNvPr>
              <p:cNvSpPr/>
              <p:nvPr/>
            </p:nvSpPr>
            <p:spPr>
              <a:xfrm>
                <a:off x="233944" y="1367206"/>
                <a:ext cx="301043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1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การสร้างแบบฟอร์มอนุมัติค่าใช้จ่าย</a:t>
                </a:r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7C38E04-A93C-4B19-8247-08092790037C}"/>
                  </a:ext>
                </a:extLst>
              </p:cNvPr>
              <p:cNvSpPr/>
              <p:nvPr/>
            </p:nvSpPr>
            <p:spPr>
              <a:xfrm>
                <a:off x="9681433" y="1373201"/>
                <a:ext cx="7200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 3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A810A2-6614-4E4D-8722-93824F1A8CF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369" y="2105512"/>
              <a:ext cx="6303542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45591B-1482-4630-8859-4B6022698EA5}"/>
              </a:ext>
            </a:extLst>
          </p:cNvPr>
          <p:cNvGrpSpPr/>
          <p:nvPr/>
        </p:nvGrpSpPr>
        <p:grpSpPr>
          <a:xfrm>
            <a:off x="1015639" y="2398440"/>
            <a:ext cx="10037105" cy="391295"/>
            <a:chOff x="1015639" y="1898883"/>
            <a:chExt cx="10037105" cy="39129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3DFD8B9-61D6-4DC1-BCF0-D92AE00CF172}"/>
                </a:ext>
              </a:extLst>
            </p:cNvPr>
            <p:cNvGrpSpPr/>
            <p:nvPr/>
          </p:nvGrpSpPr>
          <p:grpSpPr>
            <a:xfrm>
              <a:off x="1015639" y="1898883"/>
              <a:ext cx="10037105" cy="391295"/>
              <a:chOff x="345161" y="1351238"/>
              <a:chExt cx="10037105" cy="39129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744C84B-0FE1-43AD-AE25-6043FA3E3AAB}"/>
                  </a:ext>
                </a:extLst>
              </p:cNvPr>
              <p:cNvSpPr/>
              <p:nvPr/>
            </p:nvSpPr>
            <p:spPr>
              <a:xfrm>
                <a:off x="345161" y="1351238"/>
                <a:ext cx="20521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2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</a:t>
                </a:r>
                <a:r>
                  <a:rPr lang="th-TH" sz="1800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กรณีสกุลเงินไม่ใช่</a:t>
                </a:r>
                <a:r>
                  <a:rPr lang="en-US" sz="1800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USD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99F7245-CE3C-490D-9091-89780EBD3D42}"/>
                  </a:ext>
                </a:extLst>
              </p:cNvPr>
              <p:cNvSpPr/>
              <p:nvPr/>
            </p:nvSpPr>
            <p:spPr>
              <a:xfrm>
                <a:off x="9700669" y="1373201"/>
                <a:ext cx="6815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9</a:t>
                </a:r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12BAAF-F165-4569-87B7-0FB73357FE9F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3208421" y="2105512"/>
              <a:ext cx="7162726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3FE074-4E6C-48D5-884E-C30CE9004D91}"/>
              </a:ext>
            </a:extLst>
          </p:cNvPr>
          <p:cNvGrpSpPr/>
          <p:nvPr/>
        </p:nvGrpSpPr>
        <p:grpSpPr>
          <a:xfrm>
            <a:off x="1024479" y="3424506"/>
            <a:ext cx="10081485" cy="369332"/>
            <a:chOff x="1009731" y="1920846"/>
            <a:chExt cx="10081485" cy="36933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61981F-8CD3-4F9D-B647-D3D4571654AD}"/>
                </a:ext>
              </a:extLst>
            </p:cNvPr>
            <p:cNvGrpSpPr/>
            <p:nvPr/>
          </p:nvGrpSpPr>
          <p:grpSpPr>
            <a:xfrm>
              <a:off x="1009731" y="1920846"/>
              <a:ext cx="10081485" cy="369332"/>
              <a:chOff x="339253" y="1373201"/>
              <a:chExt cx="10081485" cy="369332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627A5B-ACDC-42E7-B8EE-9A0C1244058E}"/>
                  </a:ext>
                </a:extLst>
              </p:cNvPr>
              <p:cNvSpPr/>
              <p:nvPr/>
            </p:nvSpPr>
            <p:spPr>
              <a:xfrm>
                <a:off x="339253" y="1373201"/>
                <a:ext cx="18357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4 การดูประวัติเอกสาร</a:t>
                </a:r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5C3082E-958B-455C-AB47-5ACC10D84D29}"/>
                  </a:ext>
                </a:extLst>
              </p:cNvPr>
              <p:cNvSpPr/>
              <p:nvPr/>
            </p:nvSpPr>
            <p:spPr>
              <a:xfrm>
                <a:off x="9662197" y="1373201"/>
                <a:ext cx="7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15</a:t>
                </a: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DFF145-336B-4C05-B29A-78C08FFD948A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2845490" y="2105512"/>
              <a:ext cx="748718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E9B23A-A3BA-4722-BEC2-0219C66F279D}"/>
              </a:ext>
            </a:extLst>
          </p:cNvPr>
          <p:cNvGrpSpPr/>
          <p:nvPr/>
        </p:nvGrpSpPr>
        <p:grpSpPr>
          <a:xfrm>
            <a:off x="1050159" y="3946989"/>
            <a:ext cx="10091682" cy="378191"/>
            <a:chOff x="999534" y="1911987"/>
            <a:chExt cx="10091682" cy="3781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3E4827-794A-4B82-BFBF-B1CB14B8B1EC}"/>
                </a:ext>
              </a:extLst>
            </p:cNvPr>
            <p:cNvGrpSpPr/>
            <p:nvPr/>
          </p:nvGrpSpPr>
          <p:grpSpPr>
            <a:xfrm>
              <a:off x="999534" y="1911987"/>
              <a:ext cx="10091682" cy="378191"/>
              <a:chOff x="329056" y="1364342"/>
              <a:chExt cx="10091682" cy="378191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6489782-9091-40DC-AB5C-4D7BE5CCCF85}"/>
                  </a:ext>
                </a:extLst>
              </p:cNvPr>
              <p:cNvSpPr/>
              <p:nvPr/>
            </p:nvSpPr>
            <p:spPr>
              <a:xfrm>
                <a:off x="329056" y="1364342"/>
                <a:ext cx="10486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5 </a:t>
                </a:r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Config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9FD397D-95ED-4DF8-92DF-E77CD10B5234}"/>
                  </a:ext>
                </a:extLst>
              </p:cNvPr>
              <p:cNvSpPr/>
              <p:nvPr/>
            </p:nvSpPr>
            <p:spPr>
              <a:xfrm>
                <a:off x="9662197" y="1373201"/>
                <a:ext cx="7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18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A6899A-85D5-4F91-9D94-18154F57F660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2136630" y="2096653"/>
              <a:ext cx="8196045" cy="885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430D5C-96D0-40B5-9C68-508D59F9ADB5}"/>
              </a:ext>
            </a:extLst>
          </p:cNvPr>
          <p:cNvGrpSpPr/>
          <p:nvPr/>
        </p:nvGrpSpPr>
        <p:grpSpPr>
          <a:xfrm>
            <a:off x="983322" y="2916466"/>
            <a:ext cx="10107894" cy="647982"/>
            <a:chOff x="983322" y="1920846"/>
            <a:chExt cx="10107894" cy="64798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4A6BE77-D004-411F-9177-4DFC82828766}"/>
                </a:ext>
              </a:extLst>
            </p:cNvPr>
            <p:cNvGrpSpPr/>
            <p:nvPr/>
          </p:nvGrpSpPr>
          <p:grpSpPr>
            <a:xfrm>
              <a:off x="983322" y="1920846"/>
              <a:ext cx="10107894" cy="647982"/>
              <a:chOff x="312844" y="1373201"/>
              <a:chExt cx="10107894" cy="647982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823AE27-DF2E-44CA-9135-614BC7096552}"/>
                  </a:ext>
                </a:extLst>
              </p:cNvPr>
              <p:cNvSpPr/>
              <p:nvPr/>
            </p:nvSpPr>
            <p:spPr>
              <a:xfrm>
                <a:off x="312844" y="1374852"/>
                <a:ext cx="310289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3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</a:t>
                </a:r>
                <a:r>
                  <a:rPr lang="th-TH" sz="1800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กรณียกเลิกเอกสารที่มีการอนุมัติไปแล้ว</a:t>
                </a:r>
                <a:endParaRPr lang="en-US" dirty="0"/>
              </a:p>
              <a:p>
                <a:pPr algn="ctr"/>
                <a:endParaRPr lang="en-US" b="1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8AD5F2A-897D-4BEB-B9B6-8B9A5589F609}"/>
                  </a:ext>
                </a:extLst>
              </p:cNvPr>
              <p:cNvSpPr/>
              <p:nvPr/>
            </p:nvSpPr>
            <p:spPr>
              <a:xfrm>
                <a:off x="9662197" y="1373201"/>
                <a:ext cx="7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12</a:t>
                </a: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832AAA-1139-4F4D-9701-E74A2973E1FC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3914854" y="2105512"/>
              <a:ext cx="6417821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62B751B-B0C1-48D1-8428-B39DA3D68577}"/>
              </a:ext>
            </a:extLst>
          </p:cNvPr>
          <p:cNvGrpSpPr/>
          <p:nvPr/>
        </p:nvGrpSpPr>
        <p:grpSpPr>
          <a:xfrm>
            <a:off x="1050159" y="4498396"/>
            <a:ext cx="10091682" cy="378191"/>
            <a:chOff x="999534" y="1911987"/>
            <a:chExt cx="10091682" cy="37819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CDA7567-217E-4FA6-A019-A86611473CA5}"/>
                </a:ext>
              </a:extLst>
            </p:cNvPr>
            <p:cNvGrpSpPr/>
            <p:nvPr/>
          </p:nvGrpSpPr>
          <p:grpSpPr>
            <a:xfrm>
              <a:off x="999534" y="1911987"/>
              <a:ext cx="10091682" cy="378191"/>
              <a:chOff x="329056" y="1364342"/>
              <a:chExt cx="10091682" cy="37819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317D735-AFC9-46F1-95B4-4F7199517755}"/>
                  </a:ext>
                </a:extLst>
              </p:cNvPr>
              <p:cNvSpPr/>
              <p:nvPr/>
            </p:nvSpPr>
            <p:spPr>
              <a:xfrm>
                <a:off x="329056" y="1364342"/>
                <a:ext cx="10486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NO. </a:t>
                </a:r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6 </a:t>
                </a:r>
                <a:r>
                  <a:rPr lang="en-US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Config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87600B5-0A6D-43A2-90EE-B55E9E3DB365}"/>
                  </a:ext>
                </a:extLst>
              </p:cNvPr>
              <p:cNvSpPr/>
              <p:nvPr/>
            </p:nvSpPr>
            <p:spPr>
              <a:xfrm>
                <a:off x="9662197" y="1373201"/>
                <a:ext cx="758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th-TH" b="1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หน้าที่ 20</a:t>
                </a:r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0ABC67E-288C-45B0-A0AB-CB9C1C369B91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2136630" y="2096653"/>
              <a:ext cx="8196045" cy="885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859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66BC9-EAC7-4AD5-BADC-B04BEB90C402}"/>
              </a:ext>
            </a:extLst>
          </p:cNvPr>
          <p:cNvSpPr txBox="1"/>
          <p:nvPr/>
        </p:nvSpPr>
        <p:spPr>
          <a:xfrm>
            <a:off x="-1" y="726815"/>
            <a:ext cx="12179808" cy="461665"/>
          </a:xfrm>
          <a:prstGeom prst="rect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cs typeface="+mj-cs"/>
              </a:rPr>
              <a:t>ขั้นตอนการดำเนินการ</a:t>
            </a:r>
            <a:endParaRPr lang="en-US" sz="2400" b="1" dirty="0">
              <a:cs typeface="+mj-cs"/>
            </a:endParaRPr>
          </a:p>
        </p:txBody>
      </p:sp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B699358E-4B00-44DF-8659-63A549FA1A7B}"/>
              </a:ext>
            </a:extLst>
          </p:cNvPr>
          <p:cNvGraphicFramePr>
            <a:graphicFrameLocks noGrp="1"/>
          </p:cNvGraphicFramePr>
          <p:nvPr/>
        </p:nvGraphicFramePr>
        <p:xfrm>
          <a:off x="-1" y="1218522"/>
          <a:ext cx="12192000" cy="3657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341498">
                  <a:extLst>
                    <a:ext uri="{9D8B030D-6E8A-4147-A177-3AD203B41FA5}">
                      <a16:colId xmlns:a16="http://schemas.microsoft.com/office/drawing/2014/main" val="1594437184"/>
                    </a:ext>
                  </a:extLst>
                </a:gridCol>
                <a:gridCol w="2311852">
                  <a:extLst>
                    <a:ext uri="{9D8B030D-6E8A-4147-A177-3AD203B41FA5}">
                      <a16:colId xmlns:a16="http://schemas.microsoft.com/office/drawing/2014/main" val="1468033718"/>
                    </a:ext>
                  </a:extLst>
                </a:gridCol>
                <a:gridCol w="2342605">
                  <a:extLst>
                    <a:ext uri="{9D8B030D-6E8A-4147-A177-3AD203B41FA5}">
                      <a16:colId xmlns:a16="http://schemas.microsoft.com/office/drawing/2014/main" val="4102803201"/>
                    </a:ext>
                  </a:extLst>
                </a:gridCol>
                <a:gridCol w="3196045">
                  <a:extLst>
                    <a:ext uri="{9D8B030D-6E8A-4147-A177-3AD203B41FA5}">
                      <a16:colId xmlns:a16="http://schemas.microsoft.com/office/drawing/2014/main" val="263068930"/>
                    </a:ext>
                  </a:extLst>
                </a:gridCol>
              </a:tblGrid>
              <a:tr h="4674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Requester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Reviewer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Approver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Approver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708230"/>
                  </a:ext>
                </a:extLst>
              </a:tr>
              <a:tr h="3190197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3004777"/>
                  </a:ext>
                </a:extLst>
              </a:tr>
            </a:tbl>
          </a:graphicData>
        </a:graphic>
      </p:graphicFrame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4B7E3E-0BD7-471D-87D9-07CEA550DBFE}"/>
              </a:ext>
            </a:extLst>
          </p:cNvPr>
          <p:cNvSpPr/>
          <p:nvPr/>
        </p:nvSpPr>
        <p:spPr>
          <a:xfrm>
            <a:off x="277349" y="2093036"/>
            <a:ext cx="548640" cy="274320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2BEC7DC-9427-4E28-9899-B5F1DBEA0078}"/>
              </a:ext>
            </a:extLst>
          </p:cNvPr>
          <p:cNvSpPr/>
          <p:nvPr/>
        </p:nvSpPr>
        <p:spPr>
          <a:xfrm>
            <a:off x="1008230" y="1910156"/>
            <a:ext cx="109728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Expense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16FB05F-A36C-4212-89E9-9D9EF6EEC1C1}"/>
              </a:ext>
            </a:extLst>
          </p:cNvPr>
          <p:cNvSpPr/>
          <p:nvPr/>
        </p:nvSpPr>
        <p:spPr>
          <a:xfrm>
            <a:off x="2284425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328F575-42D8-4060-94F4-F45FA9603572}"/>
              </a:ext>
            </a:extLst>
          </p:cNvPr>
          <p:cNvSpPr/>
          <p:nvPr/>
        </p:nvSpPr>
        <p:spPr>
          <a:xfrm>
            <a:off x="4530279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CEFEF1AD-1B3D-46F5-B018-125B664D08F1}"/>
              </a:ext>
            </a:extLst>
          </p:cNvPr>
          <p:cNvSpPr/>
          <p:nvPr/>
        </p:nvSpPr>
        <p:spPr>
          <a:xfrm>
            <a:off x="4758879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0AE4D3-B4E2-4BC8-9E0A-FE2B3C789D5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825989" y="2230196"/>
            <a:ext cx="182241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EE56B5-C5E3-4B7E-8395-9CDC09C12FF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105510" y="2230196"/>
            <a:ext cx="178915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11A970-AA4B-41EC-B674-19730229F665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3656025" y="2230196"/>
            <a:ext cx="874254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2B89F0-A2C3-442B-82DD-D23482FB0E9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216079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23B22EF-EA6C-4A60-85E5-148F0384738B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 flipH="1">
            <a:off x="2194968" y="1912139"/>
            <a:ext cx="137160" cy="1413355"/>
          </a:xfrm>
          <a:prstGeom prst="bentConnector3">
            <a:avLst>
              <a:gd name="adj1" fmla="val -414287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B1CD3D0F-BBE2-4BD9-9DC2-5EAE1BCCF8CE}"/>
              </a:ext>
            </a:extLst>
          </p:cNvPr>
          <p:cNvSpPr/>
          <p:nvPr/>
        </p:nvSpPr>
        <p:spPr>
          <a:xfrm>
            <a:off x="6849325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4CF02878-48AF-4EE6-9836-74B593726B02}"/>
              </a:ext>
            </a:extLst>
          </p:cNvPr>
          <p:cNvSpPr/>
          <p:nvPr/>
        </p:nvSpPr>
        <p:spPr>
          <a:xfrm>
            <a:off x="7077925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B4B1AD-4563-4FD3-84A7-CF8E0FC07ED4}"/>
              </a:ext>
            </a:extLst>
          </p:cNvPr>
          <p:cNvCxnSpPr>
            <a:cxnSpLocks/>
            <a:stCxn id="20" idx="3"/>
            <a:endCxn id="43" idx="1"/>
          </p:cNvCxnSpPr>
          <p:nvPr/>
        </p:nvCxnSpPr>
        <p:spPr>
          <a:xfrm>
            <a:off x="5901879" y="2230196"/>
            <a:ext cx="947446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117DF9D-51C6-4510-B4F0-664EACFAC1B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7535125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67D686A2-4BCD-4516-BAFC-E606A94C16C7}"/>
              </a:ext>
            </a:extLst>
          </p:cNvPr>
          <p:cNvSpPr/>
          <p:nvPr/>
        </p:nvSpPr>
        <p:spPr>
          <a:xfrm>
            <a:off x="9193943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4C3EDAA3-1478-4831-94F5-0EAEBFB66393}"/>
              </a:ext>
            </a:extLst>
          </p:cNvPr>
          <p:cNvSpPr/>
          <p:nvPr/>
        </p:nvSpPr>
        <p:spPr>
          <a:xfrm>
            <a:off x="9422543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1934-704D-4945-A59B-C1BA59E93B44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8220925" y="2230196"/>
            <a:ext cx="973018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3E4787-5651-4033-ABD6-03A6D492315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9879743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4FC49F-42BD-42CE-93AB-3C25A17F2E28}"/>
              </a:ext>
            </a:extLst>
          </p:cNvPr>
          <p:cNvSpPr txBox="1"/>
          <p:nvPr/>
        </p:nvSpPr>
        <p:spPr>
          <a:xfrm>
            <a:off x="2695906" y="2824555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E723A9-75DA-4C3C-B7DB-084B64967B7A}"/>
              </a:ext>
            </a:extLst>
          </p:cNvPr>
          <p:cNvSpPr txBox="1"/>
          <p:nvPr/>
        </p:nvSpPr>
        <p:spPr>
          <a:xfrm>
            <a:off x="3738233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6B771-FB48-4409-9584-DC495083AE7C}"/>
              </a:ext>
            </a:extLst>
          </p:cNvPr>
          <p:cNvSpPr txBox="1"/>
          <p:nvPr/>
        </p:nvSpPr>
        <p:spPr>
          <a:xfrm>
            <a:off x="5997469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9E4132-D8F6-490B-8E53-C9AE446B221A}"/>
              </a:ext>
            </a:extLst>
          </p:cNvPr>
          <p:cNvSpPr txBox="1"/>
          <p:nvPr/>
        </p:nvSpPr>
        <p:spPr>
          <a:xfrm>
            <a:off x="834116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C1FCD0-39C8-483C-B02A-47D2E1F1A68B}"/>
              </a:ext>
            </a:extLst>
          </p:cNvPr>
          <p:cNvSpPr txBox="1"/>
          <p:nvPr/>
        </p:nvSpPr>
        <p:spPr>
          <a:xfrm>
            <a:off x="4950226" y="276528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242288-6BDE-43A8-A68A-0B5AA6D500A1}"/>
              </a:ext>
            </a:extLst>
          </p:cNvPr>
          <p:cNvSpPr txBox="1"/>
          <p:nvPr/>
        </p:nvSpPr>
        <p:spPr>
          <a:xfrm>
            <a:off x="7272825" y="276528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E4A141-7F21-46AF-AA16-E2B38492C356}"/>
              </a:ext>
            </a:extLst>
          </p:cNvPr>
          <p:cNvSpPr txBox="1"/>
          <p:nvPr/>
        </p:nvSpPr>
        <p:spPr>
          <a:xfrm>
            <a:off x="9605423" y="279598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72" name="Flowchart: Terminator 71">
            <a:extLst>
              <a:ext uri="{FF2B5EF4-FFF2-40B4-BE49-F238E27FC236}">
                <a16:creationId xmlns:a16="http://schemas.microsoft.com/office/drawing/2014/main" id="{D5AE03E5-4BA7-463E-958B-677EEBAC721E}"/>
              </a:ext>
            </a:extLst>
          </p:cNvPr>
          <p:cNvSpPr/>
          <p:nvPr/>
        </p:nvSpPr>
        <p:spPr>
          <a:xfrm>
            <a:off x="11346182" y="2093036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F95A25-D882-4F7C-998F-D8896CB416A4}"/>
              </a:ext>
            </a:extLst>
          </p:cNvPr>
          <p:cNvCxnSpPr>
            <a:cxnSpLocks/>
            <a:stCxn id="50" idx="3"/>
            <a:endCxn id="72" idx="1"/>
          </p:cNvCxnSpPr>
          <p:nvPr/>
        </p:nvCxnSpPr>
        <p:spPr>
          <a:xfrm>
            <a:off x="10565543" y="2230196"/>
            <a:ext cx="780639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4808931-A5C8-4724-AA05-CA9FC4AD60D0}"/>
              </a:ext>
            </a:extLst>
          </p:cNvPr>
          <p:cNvSpPr txBox="1"/>
          <p:nvPr/>
        </p:nvSpPr>
        <p:spPr>
          <a:xfrm>
            <a:off x="1063478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83" name="Flowchart: Terminator 82">
            <a:extLst>
              <a:ext uri="{FF2B5EF4-FFF2-40B4-BE49-F238E27FC236}">
                <a16:creationId xmlns:a16="http://schemas.microsoft.com/office/drawing/2014/main" id="{DE5B7818-3649-4E41-AB41-B505311C3D42}"/>
              </a:ext>
            </a:extLst>
          </p:cNvPr>
          <p:cNvSpPr/>
          <p:nvPr/>
        </p:nvSpPr>
        <p:spPr>
          <a:xfrm>
            <a:off x="9605423" y="413955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0B7D4E5-5FB5-4612-A279-B4828EDD26D7}"/>
              </a:ext>
            </a:extLst>
          </p:cNvPr>
          <p:cNvCxnSpPr>
            <a:cxnSpLocks/>
            <a:stCxn id="51" idx="2"/>
            <a:endCxn id="83" idx="0"/>
          </p:cNvCxnSpPr>
          <p:nvPr/>
        </p:nvCxnSpPr>
        <p:spPr>
          <a:xfrm>
            <a:off x="9879743" y="3869588"/>
            <a:ext cx="0" cy="26997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Flowchart: Terminator 86">
            <a:extLst>
              <a:ext uri="{FF2B5EF4-FFF2-40B4-BE49-F238E27FC236}">
                <a16:creationId xmlns:a16="http://schemas.microsoft.com/office/drawing/2014/main" id="{2AFA6E07-6B09-4BED-91B1-451CC5EC90F9}"/>
              </a:ext>
            </a:extLst>
          </p:cNvPr>
          <p:cNvSpPr/>
          <p:nvPr/>
        </p:nvSpPr>
        <p:spPr>
          <a:xfrm>
            <a:off x="7260805" y="413955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67B0D8C-39E1-477B-883C-3625751BBD81}"/>
              </a:ext>
            </a:extLst>
          </p:cNvPr>
          <p:cNvCxnSpPr>
            <a:cxnSpLocks/>
            <a:stCxn id="44" idx="2"/>
            <a:endCxn id="87" idx="0"/>
          </p:cNvCxnSpPr>
          <p:nvPr/>
        </p:nvCxnSpPr>
        <p:spPr>
          <a:xfrm>
            <a:off x="7535125" y="3869588"/>
            <a:ext cx="0" cy="26997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32EB2F60-5BE1-47C4-86AB-ED0B957C830D}"/>
              </a:ext>
            </a:extLst>
          </p:cNvPr>
          <p:cNvSpPr/>
          <p:nvPr/>
        </p:nvSpPr>
        <p:spPr>
          <a:xfrm>
            <a:off x="4941759" y="4137380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5E1D11-8477-49D4-845E-5856BB463080}"/>
              </a:ext>
            </a:extLst>
          </p:cNvPr>
          <p:cNvCxnSpPr>
            <a:cxnSpLocks/>
            <a:stCxn id="21" idx="2"/>
            <a:endCxn id="91" idx="0"/>
          </p:cNvCxnSpPr>
          <p:nvPr/>
        </p:nvCxnSpPr>
        <p:spPr>
          <a:xfrm>
            <a:off x="5216079" y="3869588"/>
            <a:ext cx="0" cy="26779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5604FC3C-F431-4B40-96B5-ABCBCBCF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5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93126" y="2481927"/>
            <a:ext cx="333937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ขั้นตอนการใช้งาน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เมนูอนุมัติค่าใช้จ่าย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4192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78703" y="2345107"/>
            <a:ext cx="324159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1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ขั้นตอนการ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สร้างแบบฟอร์ม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อนุมัติค่าใช้จ่าย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2551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0BA339-973E-435C-9E40-921EE07CD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1036510"/>
            <a:ext cx="11738708" cy="537538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</a:t>
              </a:r>
              <a:r>
                <a:rPr lang="en-US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</a:p>
          </p:txBody>
        </p:sp>
      </p:grp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DE544F9-AD01-4606-8FC3-227CAA3EEDD6}"/>
              </a:ext>
            </a:extLst>
          </p:cNvPr>
          <p:cNvSpPr/>
          <p:nvPr/>
        </p:nvSpPr>
        <p:spPr>
          <a:xfrm>
            <a:off x="1572152" y="2747304"/>
            <a:ext cx="3260317" cy="389467"/>
          </a:xfrm>
          <a:prstGeom prst="wedgeRectCallout">
            <a:avLst>
              <a:gd name="adj1" fmla="val -60718"/>
              <a:gd name="adj2" fmla="val -487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แบบฟอร์มอนุมัติค่าใช้จ่าย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4764D6B-252E-4523-AFCF-1296CA922B20}"/>
              </a:ext>
            </a:extLst>
          </p:cNvPr>
          <p:cNvSpPr/>
          <p:nvPr/>
        </p:nvSpPr>
        <p:spPr>
          <a:xfrm>
            <a:off x="5165969" y="2112868"/>
            <a:ext cx="4095261" cy="499533"/>
          </a:xfrm>
          <a:prstGeom prst="wedgeRectCallout">
            <a:avLst>
              <a:gd name="adj1" fmla="val 43435"/>
              <a:gd name="adj2" fmla="val 14406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ในส่วนของ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Header template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เลือกประเภทแบบฟอร์ม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A5CB79-0E97-4686-96BA-CBF6F7439A61}"/>
              </a:ext>
            </a:extLst>
          </p:cNvPr>
          <p:cNvSpPr/>
          <p:nvPr/>
        </p:nvSpPr>
        <p:spPr>
          <a:xfrm>
            <a:off x="9113997" y="3106941"/>
            <a:ext cx="2570003" cy="4177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0155FF44-5EEA-4173-88CD-F46A3C9673E1}"/>
              </a:ext>
            </a:extLst>
          </p:cNvPr>
          <p:cNvSpPr/>
          <p:nvPr/>
        </p:nvSpPr>
        <p:spPr>
          <a:xfrm>
            <a:off x="3202311" y="4329832"/>
            <a:ext cx="3786553" cy="499533"/>
          </a:xfrm>
          <a:prstGeom prst="wedgeRectCallout">
            <a:avLst>
              <a:gd name="adj1" fmla="val -72203"/>
              <a:gd name="adj2" fmla="val -6714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 ระบุ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Purpose for expense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อย่างน้อยที่บรรทัดแรก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9E3E9-4BC5-4D80-9B31-5706ED602B3E}"/>
              </a:ext>
            </a:extLst>
          </p:cNvPr>
          <p:cNvSpPr/>
          <p:nvPr/>
        </p:nvSpPr>
        <p:spPr>
          <a:xfrm>
            <a:off x="3837355" y="5260079"/>
            <a:ext cx="5779476" cy="82029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1B142AB5-9284-4906-9B6D-1EDBEB4B3BF9}"/>
              </a:ext>
            </a:extLst>
          </p:cNvPr>
          <p:cNvSpPr/>
          <p:nvPr/>
        </p:nvSpPr>
        <p:spPr>
          <a:xfrm>
            <a:off x="7897447" y="4165600"/>
            <a:ext cx="3638061" cy="681675"/>
          </a:xfrm>
          <a:prstGeom prst="wedgeRectCallout">
            <a:avLst>
              <a:gd name="adj1" fmla="val -19521"/>
              <a:gd name="adj2" fmla="val 9390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 สามารถอัพโหลดไฟล์ได้ *เมื่ออัพโหลดแล้วต้องกดบันทึกด้วย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FBC3842B-2F96-417C-B989-2FD0AA29706C}"/>
              </a:ext>
            </a:extLst>
          </p:cNvPr>
          <p:cNvSpPr/>
          <p:nvPr/>
        </p:nvSpPr>
        <p:spPr>
          <a:xfrm>
            <a:off x="10303936" y="1371219"/>
            <a:ext cx="1231572" cy="499533"/>
          </a:xfrm>
          <a:prstGeom prst="wedgeRectCallout">
            <a:avLst>
              <a:gd name="adj1" fmla="val -20810"/>
              <a:gd name="adj2" fmla="val 10651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 กดบันทึก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0288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D7525-BF88-4399-8637-5F3861D15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77" y="1879376"/>
            <a:ext cx="10478810" cy="3262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4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2A5CB79-0E97-4686-96BA-CBF6F7439A61}"/>
              </a:ext>
            </a:extLst>
          </p:cNvPr>
          <p:cNvSpPr/>
          <p:nvPr/>
        </p:nvSpPr>
        <p:spPr>
          <a:xfrm>
            <a:off x="3032369" y="3110523"/>
            <a:ext cx="5955323" cy="90344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0155FF44-5EEA-4173-88CD-F46A3C9673E1}"/>
              </a:ext>
            </a:extLst>
          </p:cNvPr>
          <p:cNvSpPr/>
          <p:nvPr/>
        </p:nvSpPr>
        <p:spPr>
          <a:xfrm>
            <a:off x="5007665" y="2282201"/>
            <a:ext cx="4469138" cy="499533"/>
          </a:xfrm>
          <a:prstGeom prst="wedgeRectCallout">
            <a:avLst>
              <a:gd name="adj1" fmla="val -19448"/>
              <a:gd name="adj2" fmla="val 100256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1.7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กรอกข้อมูลในส่วน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Description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Amount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ให้ครบถ้วน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E281BC4-ACE4-45ED-8E11-EF0D14B00F6B}"/>
              </a:ext>
            </a:extLst>
          </p:cNvPr>
          <p:cNvSpPr/>
          <p:nvPr/>
        </p:nvSpPr>
        <p:spPr>
          <a:xfrm>
            <a:off x="96503" y="1400235"/>
            <a:ext cx="3570272" cy="461665"/>
          </a:xfrm>
          <a:prstGeom prst="wedgeRectCallout">
            <a:avLst>
              <a:gd name="adj1" fmla="val -10747"/>
              <a:gd name="adj2" fmla="val 17845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1.6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Line template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Add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เพื่อเพิ่มแถวรายการ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CAB-6B22-4C6E-A62D-E047EDCB59F7}"/>
              </a:ext>
            </a:extLst>
          </p:cNvPr>
          <p:cNvSpPr/>
          <p:nvPr/>
        </p:nvSpPr>
        <p:spPr>
          <a:xfrm>
            <a:off x="1461477" y="4333741"/>
            <a:ext cx="2833359" cy="56768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D71D2DA2-61FE-4F27-B81D-738F7AE9333C}"/>
              </a:ext>
            </a:extLst>
          </p:cNvPr>
          <p:cNvSpPr/>
          <p:nvPr/>
        </p:nvSpPr>
        <p:spPr>
          <a:xfrm>
            <a:off x="1006188" y="5681527"/>
            <a:ext cx="3534550" cy="499533"/>
          </a:xfrm>
          <a:prstGeom prst="wedgeRectCallout">
            <a:avLst>
              <a:gd name="adj1" fmla="val -15983"/>
              <a:gd name="adj2" fmla="val -15319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1.8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SUM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เพื่อดูยอกรวมและ ดูเงื่อนไขผู้อนุมัติ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5185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</a:t>
              </a:r>
              <a:r>
                <a:rPr lang="en-US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8B791DB-D1D9-4174-996C-4F49B8C39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3" y="2256420"/>
            <a:ext cx="4610500" cy="39246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35DF72-F4E2-4550-A40A-09D9E321A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2" y="1138098"/>
            <a:ext cx="3139712" cy="5029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6FD96EE8-B345-47BA-A207-6E7F95AA590B}"/>
              </a:ext>
            </a:extLst>
          </p:cNvPr>
          <p:cNvSpPr/>
          <p:nvPr/>
        </p:nvSpPr>
        <p:spPr>
          <a:xfrm>
            <a:off x="4852356" y="959277"/>
            <a:ext cx="4503679" cy="860606"/>
          </a:xfrm>
          <a:prstGeom prst="wedgeRectCallout">
            <a:avLst>
              <a:gd name="adj1" fmla="val -65541"/>
              <a:gd name="adj2" fmla="val -1120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จะเห็นรูปแบบผู้อนุมัติขึ้นมาใน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Header template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ในที่นี้คือ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S100 )</a:t>
            </a:r>
          </a:p>
        </p:txBody>
      </p: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35BF20A9-EDA2-4DEC-B576-153A3C65DA20}"/>
              </a:ext>
            </a:extLst>
          </p:cNvPr>
          <p:cNvSpPr/>
          <p:nvPr/>
        </p:nvSpPr>
        <p:spPr>
          <a:xfrm>
            <a:off x="5435432" y="2045800"/>
            <a:ext cx="4320208" cy="860606"/>
          </a:xfrm>
          <a:prstGeom prst="wedgeRectCallout">
            <a:avLst>
              <a:gd name="adj1" fmla="val -57611"/>
              <a:gd name="adj2" fmla="val 2016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และที่ด้านล่างสุดของเมนูจะแสดงผู้อนุมัติ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ตามเงื่อนไขของยอดรวมค่าใช้จ่าย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4B59C-ACF1-4D37-98CE-CAA08DC07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664" y="4275265"/>
            <a:ext cx="3040834" cy="2371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4C3A9F27-0FC9-4A82-B0C0-BFF71A2C6670}"/>
              </a:ext>
            </a:extLst>
          </p:cNvPr>
          <p:cNvSpPr/>
          <p:nvPr/>
        </p:nvSpPr>
        <p:spPr>
          <a:xfrm>
            <a:off x="6846333" y="3358134"/>
            <a:ext cx="2571206" cy="860606"/>
          </a:xfrm>
          <a:prstGeom prst="wedgeRectCallout">
            <a:avLst>
              <a:gd name="adj1" fmla="val -37976"/>
              <a:gd name="adj2" fmla="val 8645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1.9 กดบันทีกที่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Line template </a:t>
            </a:r>
          </a:p>
        </p:txBody>
      </p:sp>
    </p:spTree>
    <p:extLst>
      <p:ext uri="{BB962C8B-B14F-4D97-AF65-F5344CB8AC3E}">
        <p14:creationId xmlns:p14="http://schemas.microsoft.com/office/powerpoint/2010/main" val="316290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33C7E7-64D7-46BD-8D80-868B213ED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0" y="1138605"/>
            <a:ext cx="5189670" cy="51820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6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6FD96EE8-B345-47BA-A207-6E7F95AA590B}"/>
              </a:ext>
            </a:extLst>
          </p:cNvPr>
          <p:cNvSpPr/>
          <p:nvPr/>
        </p:nvSpPr>
        <p:spPr>
          <a:xfrm>
            <a:off x="6527358" y="3850544"/>
            <a:ext cx="4619051" cy="1192876"/>
          </a:xfrm>
          <a:prstGeom prst="wedgeRectCallout">
            <a:avLst>
              <a:gd name="adj1" fmla="val -65541"/>
              <a:gd name="adj2" fmla="val 10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1.10 ระบบจะสร้างผู้อนุมัติมาจากการกดบันทึกที่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Line template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ถือว่าสร้างเอกสารเรียบร้อยแล้วรอ การอนุมัติ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83EC6-1D0F-4809-96D4-EFB2BA7BCC5B}"/>
              </a:ext>
            </a:extLst>
          </p:cNvPr>
          <p:cNvSpPr/>
          <p:nvPr/>
        </p:nvSpPr>
        <p:spPr>
          <a:xfrm>
            <a:off x="241130" y="3277926"/>
            <a:ext cx="5189670" cy="31339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6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6B18B-EBBB-4F6C-BC09-B36EE6233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1925549"/>
            <a:ext cx="7432997" cy="371837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7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6FD96EE8-B345-47BA-A207-6E7F95AA590B}"/>
              </a:ext>
            </a:extLst>
          </p:cNvPr>
          <p:cNvSpPr/>
          <p:nvPr/>
        </p:nvSpPr>
        <p:spPr>
          <a:xfrm>
            <a:off x="8007030" y="1703842"/>
            <a:ext cx="4133320" cy="2829168"/>
          </a:xfrm>
          <a:prstGeom prst="wedgeRectCallout">
            <a:avLst>
              <a:gd name="adj1" fmla="val -54904"/>
              <a:gd name="adj2" fmla="val -193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1.11 การอนุมัติจะให้ผู้ที่เป็น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Requester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กดรับทราบก่อน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คนที่กดจะได้รับเมล 1 ฉบับ และส่งหาคนถัดไป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เพื่อดำเนินการอนุมัติให้ครบทุกคน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เป็นอันจบกระบวนการอนุมัติค่าใช้จ่าย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Requester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ต้องได้เมลทุกครั้งเพื่อ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เช็คว่าครบหรือยังขาดใคร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83EC6-1D0F-4809-96D4-EFB2BA7BCC5B}"/>
              </a:ext>
            </a:extLst>
          </p:cNvPr>
          <p:cNvSpPr/>
          <p:nvPr/>
        </p:nvSpPr>
        <p:spPr>
          <a:xfrm>
            <a:off x="159027" y="2217681"/>
            <a:ext cx="7432996" cy="9007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78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59026" y="202021"/>
            <a:ext cx="11614475" cy="705751"/>
            <a:chOff x="159026" y="202021"/>
            <a:chExt cx="11614475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6" y="446107"/>
              <a:ext cx="4320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การสร้างแบบฟอร์มอนุมัติค่าใช้จ่าย</a:t>
              </a:r>
              <a:endParaRPr lang="en-US" sz="2400" b="1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933" y="676940"/>
              <a:ext cx="743299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8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6FD96EE8-B345-47BA-A207-6E7F95AA590B}"/>
              </a:ext>
            </a:extLst>
          </p:cNvPr>
          <p:cNvSpPr/>
          <p:nvPr/>
        </p:nvSpPr>
        <p:spPr>
          <a:xfrm>
            <a:off x="7507799" y="899941"/>
            <a:ext cx="4260129" cy="5754337"/>
          </a:xfrm>
          <a:prstGeom prst="wedgeRectCallout">
            <a:avLst>
              <a:gd name="adj1" fmla="val -49254"/>
              <a:gd name="adj2" fmla="val -2188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u="sng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สรุปการสร้างผู้อนุมัติตามยอด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เมื่อมีการเปลี่ยนแปลงยอดรวมใหม่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ผู้อนุมัติก็จะต้องเปลี่ยนไปตามยอดเงิน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โดยการกด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SUM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เพื่อดูยอดรวมและรูปแบบการอนุมัติใหม่</a:t>
            </a: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ในที่นี้เปลี่ยนจาก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S100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       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S300 )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เมื่อกด บันทึก อีกครั้งจะทำการสร้างผู้อนุมัติใหม่ทันที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***หากเป็นการกดปุ่มลบรายการต้องรอให้ระบบ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ลบและสร้างผู้อนุมัติใหม่เอง***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***การแก้ไขวงเงินใหม่ 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เพิ่มรายการ ลบรายการ แก้ไขรายการ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จะทำได้เมื่อผู้อนุมัติยกเลิกการอนุมัติ***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4F22B-F98C-4F87-AF69-CDE6DFC9E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86" y="1130775"/>
            <a:ext cx="6401545" cy="52811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3904F-5932-4EEC-B589-93289FA0A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759" y="2716008"/>
            <a:ext cx="3261643" cy="5182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12DC2E4-4356-4569-9AF4-077D4A47357F}"/>
              </a:ext>
            </a:extLst>
          </p:cNvPr>
          <p:cNvSpPr/>
          <p:nvPr/>
        </p:nvSpPr>
        <p:spPr>
          <a:xfrm>
            <a:off x="319686" y="2945921"/>
            <a:ext cx="6401545" cy="35217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1362DDE-9F43-4CAD-9152-9B8C08B143F9}"/>
              </a:ext>
            </a:extLst>
          </p:cNvPr>
          <p:cNvSpPr/>
          <p:nvPr/>
        </p:nvSpPr>
        <p:spPr>
          <a:xfrm>
            <a:off x="10115202" y="3540501"/>
            <a:ext cx="263424" cy="166573"/>
          </a:xfrm>
          <a:prstGeom prst="rightArrow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520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6577766" y="2345107"/>
            <a:ext cx="424346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2 กรณีสกุลเงินไม่ใช่</a:t>
            </a:r>
          </a:p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USD</a:t>
            </a:r>
          </a:p>
        </p:txBody>
      </p:sp>
    </p:spTree>
    <p:extLst>
      <p:ext uri="{BB962C8B-B14F-4D97-AF65-F5344CB8AC3E}">
        <p14:creationId xmlns:p14="http://schemas.microsoft.com/office/powerpoint/2010/main" val="3494121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C60AAB-3FB7-4B74-A408-EE958827A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241" y="1696636"/>
            <a:ext cx="8570877" cy="26174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3178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2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กรณีสกุลเงินไม่ใช่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USD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337169" y="676940"/>
            <a:ext cx="843076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10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8DBCD-0A96-49E5-A2B1-E393E18E7365}"/>
              </a:ext>
            </a:extLst>
          </p:cNvPr>
          <p:cNvSpPr/>
          <p:nvPr/>
        </p:nvSpPr>
        <p:spPr>
          <a:xfrm>
            <a:off x="8340035" y="2042627"/>
            <a:ext cx="1344246" cy="5027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9210261" y="1108368"/>
            <a:ext cx="2628009" cy="499533"/>
          </a:xfrm>
          <a:prstGeom prst="wedgeRectCallout">
            <a:avLst>
              <a:gd name="adj1" fmla="val -42667"/>
              <a:gd name="adj2" fmla="val 11710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2.1 กดเพื่อเปิดใช้งานแถบ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Exchange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07CFEE6E-BF64-46B7-8514-1C82A5A3FE31}"/>
              </a:ext>
            </a:extLst>
          </p:cNvPr>
          <p:cNvSpPr/>
          <p:nvPr/>
        </p:nvSpPr>
        <p:spPr>
          <a:xfrm>
            <a:off x="522612" y="3671818"/>
            <a:ext cx="2126805" cy="499533"/>
          </a:xfrm>
          <a:prstGeom prst="wedgeRectCallout">
            <a:avLst>
              <a:gd name="adj1" fmla="val 42684"/>
              <a:gd name="adj2" fmla="val -1066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2.2 เลือกสกุลเงินที่ต้องการ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B740418D-2C78-4E06-B3F6-DA019A33D559}"/>
              </a:ext>
            </a:extLst>
          </p:cNvPr>
          <p:cNvSpPr/>
          <p:nvPr/>
        </p:nvSpPr>
        <p:spPr>
          <a:xfrm>
            <a:off x="174657" y="1152735"/>
            <a:ext cx="2937565" cy="499533"/>
          </a:xfrm>
          <a:prstGeom prst="wedgeRectCallout">
            <a:avLst>
              <a:gd name="adj1" fmla="val -6033"/>
              <a:gd name="adj2" fmla="val 13431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2.3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link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ไปยังหน้าเว็บที่เช็ค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Rate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ราคา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D07E4279-0DB1-47C4-AD35-E8C4BADF60C9}"/>
              </a:ext>
            </a:extLst>
          </p:cNvPr>
          <p:cNvSpPr/>
          <p:nvPr/>
        </p:nvSpPr>
        <p:spPr>
          <a:xfrm>
            <a:off x="7393440" y="4178243"/>
            <a:ext cx="2954129" cy="2459624"/>
          </a:xfrm>
          <a:prstGeom prst="wedgeRectCallout">
            <a:avLst>
              <a:gd name="adj1" fmla="val -23818"/>
              <a:gd name="adj2" fmla="val -8839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2.4 กรอกราคาเช่น </a:t>
            </a: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เงินบาท ต่อ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USD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32.30 : 1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ให้กรอก 32.30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3229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D7525-BF88-4399-8637-5F3861D15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77" y="1855930"/>
            <a:ext cx="10478810" cy="3262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82474" y="202021"/>
            <a:ext cx="11614474" cy="705751"/>
            <a:chOff x="159027" y="202021"/>
            <a:chExt cx="11614474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7" y="446107"/>
              <a:ext cx="3401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2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กรณีสกุลเงินไม่ใช่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USD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3560737" y="676940"/>
              <a:ext cx="820719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11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E281BC4-ACE4-45ED-8E11-EF0D14B00F6B}"/>
              </a:ext>
            </a:extLst>
          </p:cNvPr>
          <p:cNvSpPr/>
          <p:nvPr/>
        </p:nvSpPr>
        <p:spPr>
          <a:xfrm>
            <a:off x="1436034" y="1339225"/>
            <a:ext cx="1138328" cy="461665"/>
          </a:xfrm>
          <a:prstGeom prst="wedgeRectCallout">
            <a:avLst>
              <a:gd name="adj1" fmla="val 18775"/>
              <a:gd name="adj2" fmla="val 14629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2.6 กดบันทึก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CAB-6B22-4C6E-A62D-E047EDCB59F7}"/>
              </a:ext>
            </a:extLst>
          </p:cNvPr>
          <p:cNvSpPr/>
          <p:nvPr/>
        </p:nvSpPr>
        <p:spPr>
          <a:xfrm>
            <a:off x="1461477" y="4333741"/>
            <a:ext cx="2833359" cy="56768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D71D2DA2-61FE-4F27-B81D-738F7AE9333C}"/>
              </a:ext>
            </a:extLst>
          </p:cNvPr>
          <p:cNvSpPr/>
          <p:nvPr/>
        </p:nvSpPr>
        <p:spPr>
          <a:xfrm>
            <a:off x="1006188" y="5681527"/>
            <a:ext cx="3534550" cy="499533"/>
          </a:xfrm>
          <a:prstGeom prst="wedgeRectCallout">
            <a:avLst>
              <a:gd name="adj1" fmla="val -15983"/>
              <a:gd name="adj2" fmla="val -15319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2.5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SUM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เพื่อดูยอกรวมและ ดูเงื่อนไขผู้อนุมัติ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34998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6522463" y="2345107"/>
            <a:ext cx="435407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3 กรณียกเลิกเอกสาร</a:t>
            </a:r>
          </a:p>
          <a:p>
            <a:pPr algn="ctr"/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ที่มีการอนุมัติไปแล้ว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294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EC26612-37C8-4848-90C8-29E9DAEA1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74" y="1305656"/>
            <a:ext cx="9434378" cy="397798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14460-4B1F-430F-8F18-B5D6B897FE97}"/>
              </a:ext>
            </a:extLst>
          </p:cNvPr>
          <p:cNvGrpSpPr/>
          <p:nvPr/>
        </p:nvGrpSpPr>
        <p:grpSpPr>
          <a:xfrm>
            <a:off x="182474" y="202021"/>
            <a:ext cx="11614474" cy="705751"/>
            <a:chOff x="159027" y="202021"/>
            <a:chExt cx="11614474" cy="7057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2E8B34-1352-4ECD-9D0D-F673FCFE96F7}"/>
                </a:ext>
              </a:extLst>
            </p:cNvPr>
            <p:cNvSpPr txBox="1"/>
            <p:nvPr/>
          </p:nvSpPr>
          <p:spPr>
            <a:xfrm>
              <a:off x="159027" y="446107"/>
              <a:ext cx="2803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ขั้นตอนที่ 3 </a:t>
              </a:r>
              <a:r>
                <a:rPr lang="en-US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</a:t>
              </a:r>
              <a:r>
                <a:rPr lang="th-TH" sz="2400" b="1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กรณียกเลิกเอกสาร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3D372B-BD11-4566-BC7D-789C0B27FA3B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962031" y="676940"/>
              <a:ext cx="880589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F7FB2C-2546-414C-8326-25B690D61EA1}"/>
                </a:ext>
              </a:extLst>
            </p:cNvPr>
            <p:cNvSpPr/>
            <p:nvPr/>
          </p:nvSpPr>
          <p:spPr>
            <a:xfrm>
              <a:off x="7712767" y="202021"/>
              <a:ext cx="3286537" cy="35780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บริษัท เจ้าสัว ฟู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้ดส์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อิน</a:t>
              </a:r>
              <a:r>
                <a:rPr lang="th-TH" b="1" dirty="0" err="1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ดัสท</a:t>
              </a:r>
              <a:r>
                <a:rPr lang="th-TH" b="1" dirty="0">
                  <a:solidFill>
                    <a:schemeClr val="bg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รี จํากัด (มหาชน)</a:t>
              </a:r>
              <a:endParaRPr lang="en-US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666F0-F477-43FF-AAF0-64362E8BECEB}"/>
                </a:ext>
              </a:extLst>
            </p:cNvPr>
            <p:cNvSpPr/>
            <p:nvPr/>
          </p:nvSpPr>
          <p:spPr>
            <a:xfrm>
              <a:off x="10999304" y="203715"/>
              <a:ext cx="774197" cy="3578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หน้าที่ 13</a:t>
              </a:r>
              <a:endParaRPr lang="en-US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E281BC4-ACE4-45ED-8E11-EF0D14B00F6B}"/>
              </a:ext>
            </a:extLst>
          </p:cNvPr>
          <p:cNvSpPr/>
          <p:nvPr/>
        </p:nvSpPr>
        <p:spPr>
          <a:xfrm>
            <a:off x="9867432" y="969110"/>
            <a:ext cx="2254230" cy="1316335"/>
          </a:xfrm>
          <a:prstGeom prst="wedgeRectCallout">
            <a:avLst>
              <a:gd name="adj1" fmla="val -46768"/>
              <a:gd name="adj2" fmla="val 7164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กดเลือกสถานะเอกสาร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ไม่สำเร็จ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CAB-6B22-4C6E-A62D-E047EDCB59F7}"/>
              </a:ext>
            </a:extLst>
          </p:cNvPr>
          <p:cNvSpPr/>
          <p:nvPr/>
        </p:nvSpPr>
        <p:spPr>
          <a:xfrm>
            <a:off x="3348610" y="4251569"/>
            <a:ext cx="1192128" cy="54826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D71D2DA2-61FE-4F27-B81D-738F7AE9333C}"/>
              </a:ext>
            </a:extLst>
          </p:cNvPr>
          <p:cNvSpPr/>
          <p:nvPr/>
        </p:nvSpPr>
        <p:spPr>
          <a:xfrm>
            <a:off x="2342618" y="5412823"/>
            <a:ext cx="4691228" cy="499533"/>
          </a:xfrm>
          <a:prstGeom prst="wedgeRectCallout">
            <a:avLst>
              <a:gd name="adj1" fmla="val -17649"/>
              <a:gd name="adj2" fmla="val -15319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3.2 จะมีให้กดส่งเมลเพื่อแจ้งให้ทุกคนที่อยู่ใน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Loop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ผู้อนุมัติทราบ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E58230-A1DF-402E-9353-1CFF00063978}"/>
              </a:ext>
            </a:extLst>
          </p:cNvPr>
          <p:cNvSpPr/>
          <p:nvPr/>
        </p:nvSpPr>
        <p:spPr>
          <a:xfrm>
            <a:off x="6096000" y="2485402"/>
            <a:ext cx="3653692" cy="64074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396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78701" y="2345107"/>
            <a:ext cx="324159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4 ขั้นตอนการ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ดูประวัติเอกสาร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54713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D6579-DB4D-4D69-8644-199D07C4B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30" y="1109585"/>
            <a:ext cx="11489057" cy="51583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4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การดูประวัติเอกสาร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3118338" y="676940"/>
            <a:ext cx="864959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15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8DBCD-0A96-49E5-A2B1-E393E18E7365}"/>
              </a:ext>
            </a:extLst>
          </p:cNvPr>
          <p:cNvSpPr/>
          <p:nvPr/>
        </p:nvSpPr>
        <p:spPr>
          <a:xfrm>
            <a:off x="1453662" y="1766277"/>
            <a:ext cx="10314268" cy="140676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E64DC4CE-E026-4527-BBAD-DCA089D7894A}"/>
              </a:ext>
            </a:extLst>
          </p:cNvPr>
          <p:cNvSpPr/>
          <p:nvPr/>
        </p:nvSpPr>
        <p:spPr>
          <a:xfrm>
            <a:off x="2493107" y="6201048"/>
            <a:ext cx="2940404" cy="499533"/>
          </a:xfrm>
          <a:prstGeom prst="wedgeRectCallout">
            <a:avLst>
              <a:gd name="adj1" fmla="val -63328"/>
              <a:gd name="adj2" fmla="val -2464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4.3 กดดูเพื่อเข้าไปยังหน้าเอกสารใบนั้น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849837" y="1005905"/>
            <a:ext cx="2628009" cy="499533"/>
          </a:xfrm>
          <a:prstGeom prst="wedgeRectCallout">
            <a:avLst>
              <a:gd name="adj1" fmla="val -41477"/>
              <a:gd name="adj2" fmla="val 35491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4.1 เลือกเมนูประวัติอนุมัติค่าใช้จ่าย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759F2-3CC8-4BAA-9C98-4B1F003FD00B}"/>
              </a:ext>
            </a:extLst>
          </p:cNvPr>
          <p:cNvSpPr/>
          <p:nvPr/>
        </p:nvSpPr>
        <p:spPr>
          <a:xfrm>
            <a:off x="1453662" y="4360985"/>
            <a:ext cx="519723" cy="225167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E0C6DC66-7A6C-497E-9FA4-A58AC70580F4}"/>
              </a:ext>
            </a:extLst>
          </p:cNvPr>
          <p:cNvSpPr/>
          <p:nvPr/>
        </p:nvSpPr>
        <p:spPr>
          <a:xfrm>
            <a:off x="5795106" y="3579971"/>
            <a:ext cx="4497755" cy="499533"/>
          </a:xfrm>
          <a:prstGeom prst="wedgeRectCallout">
            <a:avLst>
              <a:gd name="adj1" fmla="val 69554"/>
              <a:gd name="adj2" fmla="val -21708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4.2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Search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เพื่อหารายการตามช่วงวันที่และสถานะเอกสาร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60154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A60AEE-84EC-4168-A71C-359B9C319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20" y="2466902"/>
            <a:ext cx="2092955" cy="7412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4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การดูประวัติเอกสาร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3118338" y="676940"/>
            <a:ext cx="864959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16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792420" y="1569590"/>
            <a:ext cx="2628009" cy="499533"/>
          </a:xfrm>
          <a:prstGeom prst="wedgeRectCallout">
            <a:avLst>
              <a:gd name="adj1" fmla="val -23039"/>
              <a:gd name="adj2" fmla="val 12336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4.4 กดพิมพ์เพื่อดูเอกสารแบบ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F485A-89A0-4DE3-91B6-4CFD5C975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301" y="1138605"/>
            <a:ext cx="3639428" cy="52115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EBFE4C-BAC4-4284-BA08-705DB811D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69" y="966554"/>
            <a:ext cx="3759846" cy="5383613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02CFEEA-8753-4A19-B9D2-0FE2BE005130}"/>
              </a:ext>
            </a:extLst>
          </p:cNvPr>
          <p:cNvSpPr/>
          <p:nvPr/>
        </p:nvSpPr>
        <p:spPr>
          <a:xfrm>
            <a:off x="8417573" y="5921354"/>
            <a:ext cx="2221837" cy="499533"/>
          </a:xfrm>
          <a:prstGeom prst="wedgeRectCallout">
            <a:avLst>
              <a:gd name="adj1" fmla="val -17389"/>
              <a:gd name="adj2" fmla="val -1285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4.5 ถ้าเป็นเอกสารที่ถูกยกเลิก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80777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078701" y="2345107"/>
            <a:ext cx="324159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</a:t>
            </a: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5 ขั้นตอนการ</a:t>
            </a:r>
            <a:b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คัดลอกเอกสาร</a:t>
            </a:r>
            <a:endParaRPr lang="en-US" sz="48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22766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01CC8-E2D2-4954-A790-EBE1574ED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8" y="2071877"/>
            <a:ext cx="2758679" cy="6325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5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การคัดลอกเอกสาร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3118338" y="676940"/>
            <a:ext cx="864959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18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695669" y="1008843"/>
            <a:ext cx="1372441" cy="499533"/>
          </a:xfrm>
          <a:prstGeom prst="wedgeRectCallout">
            <a:avLst>
              <a:gd name="adj1" fmla="val 36753"/>
              <a:gd name="adj2" fmla="val 13275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5.1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คัดลอก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8016CF-52B3-4DA9-97B7-6DA53AE0E53D}"/>
              </a:ext>
            </a:extLst>
          </p:cNvPr>
          <p:cNvSpPr/>
          <p:nvPr/>
        </p:nvSpPr>
        <p:spPr>
          <a:xfrm>
            <a:off x="1599671" y="2078626"/>
            <a:ext cx="726831" cy="3873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8DFA91-7D2C-4D1F-A39B-61AB2ECA4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3694826"/>
            <a:ext cx="2445729" cy="15431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A004405F-1DC6-455F-B4C6-22A5317708CE}"/>
              </a:ext>
            </a:extLst>
          </p:cNvPr>
          <p:cNvSpPr/>
          <p:nvPr/>
        </p:nvSpPr>
        <p:spPr>
          <a:xfrm>
            <a:off x="1146376" y="2961240"/>
            <a:ext cx="492371" cy="632515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B3BE973A-5B1A-4D2A-8BF8-63E9BA379FC3}"/>
              </a:ext>
            </a:extLst>
          </p:cNvPr>
          <p:cNvSpPr/>
          <p:nvPr/>
        </p:nvSpPr>
        <p:spPr>
          <a:xfrm>
            <a:off x="270212" y="5791797"/>
            <a:ext cx="2244698" cy="499533"/>
          </a:xfrm>
          <a:prstGeom prst="wedgeRectCallout">
            <a:avLst>
              <a:gd name="adj1" fmla="val -19053"/>
              <a:gd name="adj2" fmla="val -12382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5.2 จะได้เลขที่เอกสารใหม่มา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575B557-BB43-49E6-870D-8D20509FF8A1}"/>
              </a:ext>
            </a:extLst>
          </p:cNvPr>
          <p:cNvSpPr/>
          <p:nvPr/>
        </p:nvSpPr>
        <p:spPr>
          <a:xfrm rot="16200000">
            <a:off x="3818967" y="3034558"/>
            <a:ext cx="492371" cy="828165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F3C3CC0-ABDD-41B6-B4CD-C4C35248B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369" y="972329"/>
            <a:ext cx="5587925" cy="27224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89BC47-30C2-407A-A609-D38A73A140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870" y="3857292"/>
            <a:ext cx="5842921" cy="2932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B783E72-23FA-4CEE-99E6-7C6A95611BF6}"/>
              </a:ext>
            </a:extLst>
          </p:cNvPr>
          <p:cNvSpPr/>
          <p:nvPr/>
        </p:nvSpPr>
        <p:spPr>
          <a:xfrm>
            <a:off x="5572369" y="1691229"/>
            <a:ext cx="5715422" cy="3873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A07F15-22C8-44E6-888A-2FDA5B9262AD}"/>
              </a:ext>
            </a:extLst>
          </p:cNvPr>
          <p:cNvSpPr/>
          <p:nvPr/>
        </p:nvSpPr>
        <p:spPr>
          <a:xfrm>
            <a:off x="5397146" y="5632677"/>
            <a:ext cx="6036762" cy="72122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0A415AA-C5CF-4AB3-8BFA-20CF2040F3AA}"/>
              </a:ext>
            </a:extLst>
          </p:cNvPr>
          <p:cNvSpPr/>
          <p:nvPr/>
        </p:nvSpPr>
        <p:spPr>
          <a:xfrm>
            <a:off x="2840647" y="4230993"/>
            <a:ext cx="2574095" cy="1714029"/>
          </a:xfrm>
          <a:prstGeom prst="wedgeRectCallout">
            <a:avLst>
              <a:gd name="adj1" fmla="val 57675"/>
              <a:gd name="adj2" fmla="val 1919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5.3 ระบบจะพามายังเอกสารใหม่ โดยจะต้องเลือกสถานะเอกสารใหม่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และอนุมัติใหม่</a:t>
            </a:r>
          </a:p>
        </p:txBody>
      </p:sp>
    </p:spTree>
    <p:extLst>
      <p:ext uri="{BB962C8B-B14F-4D97-AF65-F5344CB8AC3E}">
        <p14:creationId xmlns:p14="http://schemas.microsoft.com/office/powerpoint/2010/main" val="1371833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75A03-6772-4E31-A4EB-6CECF8835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92AE08-039F-4F7F-9126-A7C8EBA9F92B}"/>
              </a:ext>
            </a:extLst>
          </p:cNvPr>
          <p:cNvSpPr/>
          <p:nvPr/>
        </p:nvSpPr>
        <p:spPr>
          <a:xfrm>
            <a:off x="6104467" y="544077"/>
            <a:ext cx="5190067" cy="577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8888650" y="140877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8B624-9A15-41F8-BFE0-663C09D79A0E}"/>
              </a:ext>
            </a:extLst>
          </p:cNvPr>
          <p:cNvSpPr/>
          <p:nvPr/>
        </p:nvSpPr>
        <p:spPr>
          <a:xfrm>
            <a:off x="7462621" y="2345107"/>
            <a:ext cx="24737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NO. 6 Config</a:t>
            </a:r>
            <a:b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สำหรับ </a:t>
            </a:r>
            <a:r>
              <a:rPr lang="en-US" sz="48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IT</a:t>
            </a:r>
          </a:p>
        </p:txBody>
      </p:sp>
    </p:spTree>
    <p:extLst>
      <p:ext uri="{BB962C8B-B14F-4D97-AF65-F5344CB8AC3E}">
        <p14:creationId xmlns:p14="http://schemas.microsoft.com/office/powerpoint/2010/main" val="3026389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C67A3-41E6-4F89-8FE8-95BC50AFB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0" y="2671007"/>
            <a:ext cx="10672573" cy="40414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6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 Config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2110154" y="676940"/>
            <a:ext cx="965777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20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522010" y="1023189"/>
            <a:ext cx="10791425" cy="1360502"/>
          </a:xfrm>
          <a:prstGeom prst="wedgeRectCallout">
            <a:avLst>
              <a:gd name="adj1" fmla="val -22170"/>
              <a:gd name="adj2" fmla="val 5008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 สร้าง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Category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ของปลอมมา 1 ตัวโดยให้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Active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ไว้แบบไม่มีผู้อนุมัติ และ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Config Form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คือตัวที่เราจะใช้ทำ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จริง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*รหัสที่ตั้งตัวอักษร 2 ตัวแรกต้องตรงกับ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Category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ของจริง 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ถ้าของหลอกเป็น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PE-APP-0001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ตัวจริงต้องขึ้นด้วย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เหมือนกัน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ใช้ตัวนี้สร้าง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Running No **</a:t>
            </a:r>
          </a:p>
        </p:txBody>
      </p:sp>
    </p:spTree>
    <p:extLst>
      <p:ext uri="{BB962C8B-B14F-4D97-AF65-F5344CB8AC3E}">
        <p14:creationId xmlns:p14="http://schemas.microsoft.com/office/powerpoint/2010/main" val="2757945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6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 Config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2110154" y="676940"/>
            <a:ext cx="965777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21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CB8A22B-1C2C-4389-8761-AFA1331D713E}"/>
              </a:ext>
            </a:extLst>
          </p:cNvPr>
          <p:cNvSpPr/>
          <p:nvPr/>
        </p:nvSpPr>
        <p:spPr>
          <a:xfrm>
            <a:off x="522010" y="812164"/>
            <a:ext cx="10791425" cy="1571527"/>
          </a:xfrm>
          <a:prstGeom prst="wedgeRectCallout">
            <a:avLst>
              <a:gd name="adj1" fmla="val -22170"/>
              <a:gd name="adj2" fmla="val 5008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 สร้าง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Category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ของจริงตามเงื่อนไขผู้อนุมัติตามวงเงิน โดยให้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Active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ไว้แบบมีผู้อนุมัติ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***รหัสที่ตั้งตัวอักษร 2 ตัวแรกต้องตรงกับ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Category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ของปลอมที่สร้างไว้ 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ถ้าของปลอมเป็น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PE-APP-0001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ตัวจริงต้องขึ้นด้วย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PE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เหมือนกัน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****ระบุวงเงินที่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Condition Length 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ในตัวอย่างคือ 1 - 400000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86254E-CB17-4177-BBE1-067D6C29E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599" y="2509806"/>
            <a:ext cx="3867321" cy="42263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8E4130-90CD-435A-803F-3620DBF31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651" y="2608121"/>
            <a:ext cx="3510909" cy="41280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FA9E91-E19C-4590-AF10-14E3A0D33EF0}"/>
              </a:ext>
            </a:extLst>
          </p:cNvPr>
          <p:cNvSpPr/>
          <p:nvPr/>
        </p:nvSpPr>
        <p:spPr>
          <a:xfrm>
            <a:off x="6560651" y="3946770"/>
            <a:ext cx="3510908" cy="263378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549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D79115-0516-4503-A586-ED833189E1F7}"/>
              </a:ext>
            </a:extLst>
          </p:cNvPr>
          <p:cNvSpPr txBox="1"/>
          <p:nvPr/>
        </p:nvSpPr>
        <p:spPr>
          <a:xfrm>
            <a:off x="159026" y="446107"/>
            <a:ext cx="432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ขั้นตอนที่ 6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: Config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6F445-C412-4AFF-82D6-EE04EBB019F7}"/>
              </a:ext>
            </a:extLst>
          </p:cNvPr>
          <p:cNvCxnSpPr>
            <a:cxnSpLocks/>
          </p:cNvCxnSpPr>
          <p:nvPr/>
        </p:nvCxnSpPr>
        <p:spPr>
          <a:xfrm>
            <a:off x="2110154" y="676940"/>
            <a:ext cx="965777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90486A4-ED8F-4326-BA02-E76B845AF7DB}"/>
              </a:ext>
            </a:extLst>
          </p:cNvPr>
          <p:cNvSpPr/>
          <p:nvPr/>
        </p:nvSpPr>
        <p:spPr>
          <a:xfrm>
            <a:off x="7712767" y="220133"/>
            <a:ext cx="3286537" cy="321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บริษัท เจ้าสัว ฟู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้ดส์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อิน</a:t>
            </a:r>
            <a:r>
              <a:rPr lang="th-TH" b="1" dirty="0" err="1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ดัสท</a:t>
            </a:r>
            <a:r>
              <a:rPr lang="th-TH" b="1" dirty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รี จํากัด (มหาชน)</a:t>
            </a:r>
            <a:endParaRPr lang="en-US" b="1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B1A6EA-57C2-47AA-B979-B37B32B8CDF7}"/>
              </a:ext>
            </a:extLst>
          </p:cNvPr>
          <p:cNvSpPr/>
          <p:nvPr/>
        </p:nvSpPr>
        <p:spPr>
          <a:xfrm>
            <a:off x="10999304" y="203715"/>
            <a:ext cx="774197" cy="3578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 22</a:t>
            </a:r>
            <a:endParaRPr lang="en-US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70951BD-0C30-4DF8-B2F2-AAC94CB482D4}"/>
              </a:ext>
            </a:extLst>
          </p:cNvPr>
          <p:cNvSpPr/>
          <p:nvPr/>
        </p:nvSpPr>
        <p:spPr>
          <a:xfrm>
            <a:off x="1876712" y="1461193"/>
            <a:ext cx="8438576" cy="3935613"/>
          </a:xfrm>
          <a:prstGeom prst="wedgeRectCallout">
            <a:avLst>
              <a:gd name="adj1" fmla="val -23742"/>
              <a:gd name="adj2" fmla="val 5018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เมลส่งไปแบบ </a:t>
            </a:r>
            <a:r>
              <a:rPr lang="en-US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sequence</a:t>
            </a:r>
            <a:br>
              <a:rPr lang="en-US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+</a:t>
            </a:r>
            <a:br>
              <a:rPr lang="en-US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36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Requester </a:t>
            </a:r>
            <a:r>
              <a:rPr lang="th-TH" sz="360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ได้ตลอด</a:t>
            </a:r>
            <a:endParaRPr lang="en-US" sz="36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4471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1158</Words>
  <Application>Microsoft Office PowerPoint</Application>
  <PresentationFormat>Widescreen</PresentationFormat>
  <Paragraphs>156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195</cp:revision>
  <cp:lastPrinted>2024-05-15T07:29:50Z</cp:lastPrinted>
  <dcterms:created xsi:type="dcterms:W3CDTF">2023-12-26T02:33:08Z</dcterms:created>
  <dcterms:modified xsi:type="dcterms:W3CDTF">2025-09-09T04:21:15Z</dcterms:modified>
</cp:coreProperties>
</file>